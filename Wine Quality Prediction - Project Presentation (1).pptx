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247120" cy="5212080"/>
          </a:xfrm>
          <a:prstGeom prst="rect">
            <a:avLst>
              <a:gd name="adj" fmla="val 1053"/>
            </a:avLst>
          </a:prstGeom>
          <a:solidFill>
            <a:srgbClr val="2E1116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1554480"/>
            <a:ext cx="2743200" cy="2743200"/>
          </a:xfrm>
          <a:prstGeom prst="ellipse">
            <a:avLst/>
          </a:prstGeom>
          <a:solidFill>
            <a:srgbClr val="7A0C24">
              <a:alpha val="22000"/>
            </a:srgbClr>
          </a:solidFill>
          <a:ln/>
        </p:spPr>
      </p:sp>
      <p:pic>
        <p:nvPicPr>
          <p:cNvPr id="4" name="Image 0" descr="/home/claude/deck/icon_winegl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783080"/>
            <a:ext cx="1645920" cy="2331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— Machine Learning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874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Quality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E7B7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4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Ridge, Lasso &amp; Elastic Net Regression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in Computer Science and Engineering  •  A.Y. 2026–27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892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Hansika Reddy Gunapati (2520030237)   |   Teja Hasini Reddy (2520030048)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M. Rani  •  Team 34  •  KL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4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BSTRACT</a:t>
            </a:r>
            <a:endParaRPr lang="en-US" sz="6400" dirty="0"/>
          </a:p>
        </p:txBody>
      </p:sp>
      <p:pic>
        <p:nvPicPr>
          <p:cNvPr id="3" name="Image 0" descr="/home/claude/deck/icon_wineglass_ros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1292840" y="4572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wine quality from physicochemical lab measurements is a classic regression problem, traditionally judged by slow, subjective human tasting panels. This project builds a supervised ML pipeline that predicts a wine's quality score directly from measurable chemical attributes — fixed acidity, volatile acidity, citric acid, residual sugar, chlorides, sulphur dioxide, density, pH, sulphates, and alcohol content.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comparison is three regularised linear techniques — Ridge (L2), Lasso (L1), and Elastic Net (L1+L2) — studying how each penalty shrinks, and in Lasso/Elastic Net's case, sparsifies model coefficients on the public Wine Quality dataset.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0" y="1737360"/>
            <a:ext cx="3840480" cy="4114800"/>
          </a:xfrm>
          <a:prstGeom prst="rect">
            <a:avLst>
              <a:gd name="adj" fmla="val 1429"/>
            </a:avLst>
          </a:prstGeom>
          <a:solidFill>
            <a:srgbClr val="2E1116"/>
          </a:solidFill>
          <a:ln/>
        </p:spPr>
      </p:sp>
      <p:pic>
        <p:nvPicPr>
          <p:cNvPr id="7" name="Image 1" descr="/home/claude/deck/icon_grapes_rose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35640" y="18745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924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Score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4526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a plain linear baseline and a Random Forest regressor.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34  |  KL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indent="0" marL="0">
              <a:buNone/>
            </a:pPr>
            <a:r>
              <a:rPr lang="en-US" sz="34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NTRODUCTION</a:t>
            </a:r>
            <a:endParaRPr lang="en-US" sz="6400" dirty="0"/>
          </a:p>
        </p:txBody>
      </p:sp>
      <p:pic>
        <p:nvPicPr>
          <p:cNvPr id="3" name="Image 0" descr="/home/claude/deck/icon_wineglass_ros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1292840" y="45720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783080"/>
            <a:ext cx="5349240" cy="1737360"/>
          </a:xfrm>
          <a:prstGeom prst="rect">
            <a:avLst>
              <a:gd name="adj" fmla="val 2632"/>
            </a:avLst>
          </a:prstGeom>
          <a:solidFill>
            <a:srgbClr val="2E111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regularisation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0487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physicochemical attributes correlate (e.g. fixed acidity &amp; pH, free vs. total SO₂), which destabilises ordinary least-squares and invites overfitting.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55080" y="1783080"/>
            <a:ext cx="5349240" cy="1737360"/>
          </a:xfrm>
          <a:prstGeom prst="rect">
            <a:avLst>
              <a:gd name="adj" fmla="val 2632"/>
            </a:avLst>
          </a:prstGeom>
          <a:solidFill>
            <a:srgbClr val="2E11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 (L2)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40487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 smoothly and handles correlated features gracefully.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5349240" cy="1737360"/>
          </a:xfrm>
          <a:prstGeom prst="rect">
            <a:avLst>
              <a:gd name="adj" fmla="val 2632"/>
            </a:avLst>
          </a:prstGeom>
          <a:solidFill>
            <a:srgbClr val="2E111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950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Lasso (L1)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37083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shrink some coefficients exactly to zero — automatic feature selection.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3749040"/>
            <a:ext cx="5349240" cy="1737360"/>
          </a:xfrm>
          <a:prstGeom prst="rect">
            <a:avLst>
              <a:gd name="adj" fmla="val 2632"/>
            </a:avLst>
          </a:prstGeom>
          <a:solidFill>
            <a:srgbClr val="2E111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29400" y="3950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Net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437083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penalties: keeps correlated groups while still encouraging sparsity.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34  |  KL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pPr indent="0" marL="0">
              <a:buNone/>
            </a:pPr>
            <a:r>
              <a:rPr lang="en-US" sz="34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ETHODOLOGY</a:t>
            </a:r>
            <a:endParaRPr lang="en-US" sz="6400" dirty="0"/>
          </a:p>
        </p:txBody>
      </p:sp>
      <p:pic>
        <p:nvPicPr>
          <p:cNvPr id="3" name="Image 0" descr="/home/claude/deck/icon_wineglass_ros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1292840" y="45720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828800"/>
            <a:ext cx="3566160" cy="1920240"/>
          </a:xfrm>
          <a:prstGeom prst="rect">
            <a:avLst>
              <a:gd name="adj" fmla="val 2381"/>
            </a:avLst>
          </a:prstGeom>
          <a:solidFill>
            <a:srgbClr val="2E111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163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Wine Quality dataset — physicochemical tests + taster quality score (CSV).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66160" cy="1920240"/>
          </a:xfrm>
          <a:prstGeom prst="rect">
            <a:avLst>
              <a:gd name="adj" fmla="val 2381"/>
            </a:avLst>
          </a:prstGeom>
          <a:solidFill>
            <a:srgbClr val="2E111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8163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standardise numerical features.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0" y="1828800"/>
            <a:ext cx="3566160" cy="1920240"/>
          </a:xfrm>
          <a:prstGeom prst="rect">
            <a:avLst>
              <a:gd name="adj" fmla="val 2381"/>
            </a:avLst>
          </a:prstGeom>
          <a:solidFill>
            <a:srgbClr val="2E111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6676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Splitting &amp; Tuning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28163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split; k-fold CV with grid search for alpha &amp; l1_ratio.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3566160" cy="1920240"/>
          </a:xfrm>
          <a:prstGeom prst="rect">
            <a:avLst>
              <a:gd name="adj" fmla="val 2381"/>
            </a:avLst>
          </a:prstGeom>
          <a:solidFill>
            <a:srgbClr val="2E111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599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9651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Ridge, Lasso, and Elastic Net; compare vs. linear baseline &amp; Random Forest.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43400" y="3977640"/>
            <a:ext cx="3566160" cy="1920240"/>
          </a:xfrm>
          <a:prstGeom prst="rect">
            <a:avLst>
              <a:gd name="adj" fmla="val 2381"/>
            </a:avLst>
          </a:prstGeom>
          <a:solidFill>
            <a:srgbClr val="2E111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72000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599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9651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 on held-out test set; inspect which coefficients Lasso zeroes out.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138160" y="3977640"/>
            <a:ext cx="3566160" cy="1920240"/>
          </a:xfrm>
          <a:prstGeom prst="rect">
            <a:avLst>
              <a:gd name="adj" fmla="val 2381"/>
            </a:avLst>
          </a:prstGeom>
          <a:solidFill>
            <a:srgbClr val="2E111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66760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8366760" y="4599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49651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physicochemical attributes by influence on predicted wine quality.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34  |  KL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buNone/>
            </a:pPr>
            <a:r>
              <a:rPr lang="en-US" sz="34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OURSE OUTCOMES COVERED</a:t>
            </a:r>
            <a:endParaRPr lang="en-US" sz="6400" dirty="0"/>
          </a:p>
        </p:txBody>
      </p:sp>
      <p:pic>
        <p:nvPicPr>
          <p:cNvPr id="3" name="Image 0" descr="/home/claude/deck/icon_wineglass_ros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1292840" y="4572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7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Lifecycle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2075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raw data → cleaned/standardised data → trained model → evaluated artifact. Framed as supervised regression.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737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7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075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&amp; Elastic Net; L1 vs L2 geometric intuition; feature scaling and missing-value imputation.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54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7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CO3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Tree-Based Models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4930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as a non-linear benchmark; permutation importance cross-checked against Lasso's selections.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154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7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CO4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34930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used post-standardisation to visualise correlation structure among attributes.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572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7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CO5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544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103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split, k-fold CV, grid search, and RMSE / MAE / R² metrics.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4572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7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CO6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4544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Engineering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49103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packaged for portability; discussion of serving it via a lightweight REST API (e.g. FastAPI).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34  |  KL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indent="0" marL="0">
              <a:buNone/>
            </a:pPr>
            <a:r>
              <a:rPr lang="en-US" sz="34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OFTWARE REQUIREMENTS</a:t>
            </a:r>
            <a:endParaRPr lang="en-US" sz="6400" dirty="0"/>
          </a:p>
        </p:txBody>
      </p:sp>
      <p:pic>
        <p:nvPicPr>
          <p:cNvPr id="3" name="Image 0" descr="/home/claude/deck/icon_wineglass_ros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1292840" y="45720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783080"/>
            <a:ext cx="5120640" cy="4023360"/>
          </a:xfrm>
          <a:prstGeom prst="rect">
            <a:avLst>
              <a:gd name="adj" fmla="val 1364"/>
            </a:avLst>
          </a:prstGeom>
          <a:solidFill>
            <a:srgbClr val="2E111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2057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350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10/11 or Linux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01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3.x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453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 / Google Colab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43600" y="1783080"/>
            <a:ext cx="5669280" cy="4023360"/>
          </a:xfrm>
          <a:prstGeom prst="rect">
            <a:avLst>
              <a:gd name="adj" fmla="val 1364"/>
            </a:avLst>
          </a:prstGeom>
          <a:solidFill>
            <a:srgbClr val="2E11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6364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LIBRARIES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  ·   Pandas   ·   Scikit-learn   ·   Matplotlib   ·   Seaborn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3566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dataset (CSV) — physicochemical tests + taster-assigned quality score.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44805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are sufficient to preprocess data, train and tune Ridge, Lasso, and Elastic Net models, benchmark against baselines, and visualise results.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34  |  KL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buNone/>
            </a:pPr>
            <a:r>
              <a:rPr lang="en-US" sz="34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XPECTED OUTCOME</a:t>
            </a:r>
            <a:endParaRPr lang="en-US" sz="6400" dirty="0"/>
          </a:p>
        </p:txBody>
      </p:sp>
      <p:pic>
        <p:nvPicPr>
          <p:cNvPr id="3" name="Image 0" descr="/home/claude/deck/icon_wineglass_ros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1292840" y="4572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comparative study showing which regularisation strategy — Ridge, Lasso, or Elastic Net — best predicts wine quality from physicochemical attributes.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2880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7A0C2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content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60320" y="2880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7A0C2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2880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7A0C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566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identified as most influential in determining quality across the three models.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206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3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pipeline demonstrates a complete, reproducible workflow from raw tabular data to a tuned and evaluated regression model — supporting faster, data-driven, and consistent wine quality assessment.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34  |  KL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247120" cy="5212080"/>
          </a:xfrm>
          <a:prstGeom prst="rect">
            <a:avLst>
              <a:gd name="adj" fmla="val 1053"/>
            </a:avLst>
          </a:prstGeom>
          <a:solidFill>
            <a:srgbClr val="2E1116"/>
          </a:solidFill>
          <a:ln/>
        </p:spPr>
      </p:sp>
      <p:pic>
        <p:nvPicPr>
          <p:cNvPr id="3" name="Image 0" descr="/home/claude/deck/icon_grapes_ros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349240" y="12344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Using Ridge, Lasso, and Elastic Net Regression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886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Hansika Reddy Gunapati  •  Teja Hasini Reddy  •  Guide: Dr. M. Rani  •  Team 34  •  KL University</a:t>
            </a:r>
            <a:endParaRPr lang="en-US" sz="1200" dirty="0"/>
          </a:p>
        </p:txBody>
      </p:sp>
      <p:pic>
        <p:nvPicPr>
          <p:cNvPr id="7" name="Image 1" descr="/home/claude/deck/icon_wineglass_dark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440680" y="44805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2026-09-26T04:00:37Z</dcterms:created>
  <dcterms:modified xsi:type="dcterms:W3CDTF">2026-09-26T04:00:37Z</dcterms:modified>
</cp:coreProperties>
</file>